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Urbanist" panose="020B0604020202020204" charset="0"/>
      <p:regular r:id="rId14"/>
      <p:bold r:id="rId15"/>
      <p:italic r:id="rId16"/>
      <p:boldItalic r:id="rId17"/>
    </p:embeddedFont>
    <p:embeddedFont>
      <p:font typeface="Urbanist Medium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8D6738-51FE-4A68-BFC3-606704BC6B7C}">
  <a:tblStyle styleId="{208D6738-51FE-4A68-BFC3-606704BC6B7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90937"/>
            <a:ext cx="11049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938337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Sistema </a:t>
            </a:r>
            <a:r>
              <a:rPr lang="es-CL" sz="5400" b="0" i="0" u="none" strike="noStrike" cap="none" noProof="0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Fronterizo</a:t>
            </a:r>
            <a:endParaRPr lang="es-CL" noProof="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814637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Modernización del Control Los Libertadores (SCF-PLL)</a:t>
            </a:r>
            <a:endParaRPr lang="es-CL" noProof="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06241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Defensa Técnica: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Christian Astorga</a:t>
            </a:r>
            <a:endParaRPr lang="es-CL" noProof="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49103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Ingeniería de Requisitos y Calidad de Software</a:t>
            </a:r>
            <a:endParaRPr lang="es-CL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524500" y="255746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500675" y="2786062"/>
            <a:ext cx="519064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01. </a:t>
            </a:r>
            <a:r>
              <a:rPr lang="es-CL" sz="6000" b="0" i="0" u="none" strike="noStrike" cap="none" noProof="0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Prototipado</a:t>
            </a:r>
            <a:endParaRPr lang="es-CL" noProof="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4162425" y="4062412"/>
            <a:ext cx="386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Herramientas y estrategia de construcción funcional.</a:t>
            </a:r>
            <a:endParaRPr lang="es-CL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5050"/>
            <a:ext cx="5286375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05050"/>
            <a:ext cx="5286375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Estrategia con </a:t>
            </a:r>
            <a:r>
              <a:rPr lang="es-CL" sz="3000" b="0" i="0" u="none" strike="noStrike" cap="none" noProof="0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Figma</a:t>
            </a:r>
            <a:endParaRPr lang="es-CL" noProof="0" dirty="0"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6003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66775" y="326707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Prototipado de Alta Fidelidad</a:t>
            </a:r>
            <a:endParaRPr lang="es-CL" noProof="0"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866775" y="3762375"/>
            <a:ext cx="46958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 seleccionó </a:t>
            </a:r>
            <a:r>
              <a:rPr lang="es-CL" sz="1350" b="0" i="0" u="none" strike="noStrike" cap="none" noProof="0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Figma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para garantizar una representación exacta de la interfaz final. El uso de componentes atómicos permitió iterar rápidamente sobre los 5 requisitos funcionales definidos.</a:t>
            </a:r>
            <a:endParaRPr lang="es-CL" noProof="0" dirty="0"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6003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6629400" y="326707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Interactividad y Flujos</a:t>
            </a:r>
            <a:endParaRPr lang="es-CL" noProof="0" dirty="0"/>
          </a:p>
        </p:txBody>
      </p:sp>
      <p:sp>
        <p:nvSpPr>
          <p:cNvPr id="111" name="Google Shape;111;p15"/>
          <p:cNvSpPr txBox="1"/>
          <p:nvPr/>
        </p:nvSpPr>
        <p:spPr>
          <a:xfrm>
            <a:off x="6629400" y="3762375"/>
            <a:ext cx="4695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prototipo simula el comportamiento real mediante </a:t>
            </a:r>
            <a:r>
              <a:rPr lang="es-CL" sz="1350" noProof="0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Animacion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permitiendo validar la experiencia del funcionario ante alertas de plazos y restricciones migratorias de menores.</a:t>
            </a:r>
            <a:endParaRPr lang="es-CL" noProof="0" dirty="0"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0600" y="2724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81800" y="2724150"/>
            <a:ext cx="1714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33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Visualización del </a:t>
            </a:r>
            <a:r>
              <a:rPr lang="es-CL" sz="3000" b="0" i="0" u="none" strike="noStrike" cap="none" noProof="0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Producto</a:t>
            </a:r>
            <a:endParaRPr lang="es-CL" noProof="0"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211455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Interfaces Institucionales</a:t>
            </a:r>
            <a:endParaRPr lang="es-CL" noProof="0"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260985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Las pantallas reflejan los 4 módulos clave:</a:t>
            </a:r>
            <a:endParaRPr lang="es-CL" noProof="0"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923925" y="30384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s-CL" noProof="0"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952500" y="3038475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Login de Funcionarios con seguridad integrada.</a:t>
            </a:r>
            <a:endParaRPr lang="es-CL" noProof="0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923925" y="32956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s-CL" noProof="0"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952500" y="3295650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Módulo de Pasajeros para validación de menores.</a:t>
            </a:r>
            <a:endParaRPr lang="es-CL" noProof="0"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923925" y="35528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s-CL" noProof="0"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952500" y="3552825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Control Vehicular para cálculo de 90 días.</a:t>
            </a:r>
            <a:endParaRPr lang="es-CL" noProof="0"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923925" y="38100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s-CL" noProof="0"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952500" y="3810000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Dashboard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Estadístico para supervisión analítica.</a:t>
            </a:r>
            <a:endParaRPr lang="es-CL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4AD1E8-84E4-E202-56A2-0292B8119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491" y="646820"/>
            <a:ext cx="2981521" cy="209161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C47CAF-C8DC-2169-3DE2-D0514E45B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2746" y="646820"/>
            <a:ext cx="2951954" cy="209916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B0FB223-FEB7-FD2B-C0C7-A99638DFB7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2066" y="2920918"/>
            <a:ext cx="2903397" cy="233447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75CB8FB-AA69-AB01-0E46-A2F21A0D7F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9654" y="2920918"/>
            <a:ext cx="2951953" cy="23344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5524500" y="255746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4085748" y="2786062"/>
            <a:ext cx="402050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02. </a:t>
            </a:r>
            <a:r>
              <a:rPr lang="es-CL" sz="6000" b="0" i="0" u="none" strike="noStrike" cap="none" noProof="0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Calidad</a:t>
            </a:r>
            <a:endParaRPr lang="es-CL" noProof="0"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4572000" y="4062412"/>
            <a:ext cx="304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Marco normativo ISO 25000 y Requisitos.</a:t>
            </a:r>
            <a:endParaRPr lang="es-CL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7642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Modelo </a:t>
            </a:r>
            <a:r>
              <a:rPr lang="es-CL" sz="3000" b="0" i="0" u="none" strike="noStrike" cap="none" noProof="0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ISO/IEC 25000</a:t>
            </a:r>
            <a:endParaRPr lang="es-CL" noProof="0" dirty="0"/>
          </a:p>
        </p:txBody>
      </p:sp>
      <p:sp>
        <p:nvSpPr>
          <p:cNvPr id="145" name="Google Shape;145;p18"/>
          <p:cNvSpPr txBox="1"/>
          <p:nvPr/>
        </p:nvSpPr>
        <p:spPr>
          <a:xfrm>
            <a:off x="4857750" y="2600325"/>
            <a:ext cx="71008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Aseguramiento </a:t>
            </a:r>
            <a:r>
              <a:rPr lang="es-CL" sz="2100" b="0" i="0" u="none" strike="noStrike" cap="none" noProof="0" dirty="0" err="1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SQuaRE</a:t>
            </a:r>
            <a:endParaRPr lang="es-CL" noProof="0" dirty="0"/>
          </a:p>
        </p:txBody>
      </p:sp>
      <p:sp>
        <p:nvSpPr>
          <p:cNvPr id="146" name="Google Shape;146;p18"/>
          <p:cNvSpPr txBox="1"/>
          <p:nvPr/>
        </p:nvSpPr>
        <p:spPr>
          <a:xfrm>
            <a:off x="4857750" y="3095625"/>
            <a:ext cx="6762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 evaluación del prototipo se centró en dos pilares fundamentales para garantizar la satisfacción de PDI, SAG y Aduana:</a:t>
            </a:r>
            <a:endParaRPr lang="es-CL" noProof="0" dirty="0"/>
          </a:p>
        </p:txBody>
      </p:sp>
      <p:pic>
        <p:nvPicPr>
          <p:cNvPr id="147" name="Google Shape;14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85950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210175" y="37814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s-CL" noProof="0" dirty="0"/>
          </a:p>
        </p:txBody>
      </p:sp>
      <p:sp>
        <p:nvSpPr>
          <p:cNvPr id="149" name="Google Shape;149;p18"/>
          <p:cNvSpPr txBox="1"/>
          <p:nvPr/>
        </p:nvSpPr>
        <p:spPr>
          <a:xfrm>
            <a:off x="5238750" y="3781425"/>
            <a:ext cx="6381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Adecuación Funcional: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Garantiza que el software haga exactamente lo que el negocio fronterizo requiere.</a:t>
            </a:r>
            <a:endParaRPr lang="es-CL" noProof="0" dirty="0"/>
          </a:p>
        </p:txBody>
      </p:sp>
      <p:sp>
        <p:nvSpPr>
          <p:cNvPr id="150" name="Google Shape;150;p18"/>
          <p:cNvSpPr txBox="1"/>
          <p:nvPr/>
        </p:nvSpPr>
        <p:spPr>
          <a:xfrm>
            <a:off x="5210175" y="42957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s-CL" noProof="0"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5238750" y="4295775"/>
            <a:ext cx="63817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Usabilidad: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Prioriza el </a:t>
            </a:r>
            <a:r>
              <a:rPr lang="es-CL" sz="135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entiendimientoy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operabilidad de la interfaz bajo condiciones de alta demanda.</a:t>
            </a:r>
            <a:endParaRPr lang="es-CL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33637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33637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33637"/>
            <a:ext cx="3492549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Requisitos </a:t>
            </a:r>
            <a:r>
              <a:rPr lang="es-CL" sz="3000" b="0" i="0" u="none" strike="noStrike" cap="none" noProof="0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Funcionales</a:t>
            </a:r>
            <a:r>
              <a:rPr lang="es-CL" sz="30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(RF)</a:t>
            </a:r>
            <a:endParaRPr lang="es-CL" noProof="0" dirty="0"/>
          </a:p>
        </p:txBody>
      </p:sp>
      <p:pic>
        <p:nvPicPr>
          <p:cNvPr id="161" name="Google Shape;16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289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866775" y="3395662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RF1: Menores</a:t>
            </a:r>
            <a:endParaRPr lang="es-CL" noProof="0" dirty="0"/>
          </a:p>
        </p:txBody>
      </p:sp>
      <p:sp>
        <p:nvSpPr>
          <p:cNvPr id="163" name="Google Shape;163;p19"/>
          <p:cNvSpPr txBox="1"/>
          <p:nvPr/>
        </p:nvSpPr>
        <p:spPr>
          <a:xfrm>
            <a:off x="866775" y="3890962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Bloqueo automático de paso ante falta de autorización notarial en menores.</a:t>
            </a:r>
            <a:endParaRPr lang="es-CL" noProof="0" dirty="0"/>
          </a:p>
        </p:txBody>
      </p:sp>
      <p:pic>
        <p:nvPicPr>
          <p:cNvPr id="164" name="Google Shape;16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289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4645074" y="3395662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RF2: Plazos</a:t>
            </a:r>
            <a:endParaRPr lang="es-CL" noProof="0" dirty="0"/>
          </a:p>
        </p:txBody>
      </p:sp>
      <p:sp>
        <p:nvSpPr>
          <p:cNvPr id="166" name="Google Shape;166;p19"/>
          <p:cNvSpPr txBox="1"/>
          <p:nvPr/>
        </p:nvSpPr>
        <p:spPr>
          <a:xfrm>
            <a:off x="4645074" y="3890962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Identificación visual de vehículos excedidos en los 90 días de permanencia.</a:t>
            </a:r>
            <a:endParaRPr lang="es-CL" noProof="0" dirty="0"/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289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423374" y="3395662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RF5: Reportes</a:t>
            </a:r>
            <a:endParaRPr lang="es-CL" noProof="0"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8423374" y="3890962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Dashboard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interactivo con métricas de flujo y cuellos de botella en casetas.</a:t>
            </a:r>
            <a:endParaRPr lang="es-CL" noProof="0" dirty="0"/>
          </a:p>
        </p:txBody>
      </p:sp>
      <p:pic>
        <p:nvPicPr>
          <p:cNvPr id="170" name="Google Shape;170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4887" y="285273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68899" y="28527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47199" y="2852737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Requisitos </a:t>
            </a:r>
            <a:r>
              <a:rPr lang="es-CL" sz="3000" b="0" i="0" u="none" strike="noStrike" cap="none" noProof="0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No Funcionales</a:t>
            </a:r>
            <a:endParaRPr lang="es-CL" noProof="0" dirty="0"/>
          </a:p>
        </p:txBody>
      </p:sp>
      <p:sp>
        <p:nvSpPr>
          <p:cNvPr id="179" name="Google Shape;179;p20"/>
          <p:cNvSpPr txBox="1"/>
          <p:nvPr/>
        </p:nvSpPr>
        <p:spPr>
          <a:xfrm>
            <a:off x="6334125" y="27289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Eficiencia y Seguridad</a:t>
            </a:r>
            <a:endParaRPr lang="es-CL" noProof="0" dirty="0"/>
          </a:p>
        </p:txBody>
      </p:sp>
      <p:sp>
        <p:nvSpPr>
          <p:cNvPr id="180" name="Google Shape;180;p20"/>
          <p:cNvSpPr txBox="1"/>
          <p:nvPr/>
        </p:nvSpPr>
        <p:spPr>
          <a:xfrm>
            <a:off x="6334125" y="3224212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Para lograr una operabilidad óptima, el prototipo contempla:</a:t>
            </a:r>
            <a:endParaRPr lang="es-CL" noProof="0" dirty="0"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2728912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0" b="1" i="0" u="none" strike="noStrike" cap="none" noProof="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2.0s</a:t>
            </a:r>
            <a:endParaRPr lang="es-CL" noProof="0" dirty="0"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4062412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TIEMPO DE RESPUESTA</a:t>
            </a:r>
            <a:endParaRPr lang="es-CL" noProof="0" dirty="0"/>
          </a:p>
        </p:txBody>
      </p:sp>
      <p:sp>
        <p:nvSpPr>
          <p:cNvPr id="183" name="Google Shape;183;p20"/>
          <p:cNvSpPr txBox="1"/>
          <p:nvPr/>
        </p:nvSpPr>
        <p:spPr>
          <a:xfrm>
            <a:off x="6686550" y="365283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s-CL" noProof="0" dirty="0"/>
          </a:p>
        </p:txBody>
      </p:sp>
      <p:sp>
        <p:nvSpPr>
          <p:cNvPr id="184" name="Google Shape;184;p20"/>
          <p:cNvSpPr txBox="1"/>
          <p:nvPr/>
        </p:nvSpPr>
        <p:spPr>
          <a:xfrm>
            <a:off x="6715125" y="3652837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Disponibilidad: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Arquitectura </a:t>
            </a:r>
            <a:r>
              <a:rPr lang="es-CL" sz="1350" b="0" i="0" u="none" strike="noStrike" cap="none" noProof="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Offline-First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para operación en alta montaña.</a:t>
            </a:r>
            <a:endParaRPr lang="es-CL" noProof="0" dirty="0"/>
          </a:p>
        </p:txBody>
      </p:sp>
      <p:sp>
        <p:nvSpPr>
          <p:cNvPr id="185" name="Google Shape;185;p20"/>
          <p:cNvSpPr txBox="1"/>
          <p:nvPr/>
        </p:nvSpPr>
        <p:spPr>
          <a:xfrm>
            <a:off x="6686550" y="416718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s-CL" noProof="0" dirty="0"/>
          </a:p>
        </p:txBody>
      </p:sp>
      <p:sp>
        <p:nvSpPr>
          <p:cNvPr id="186" name="Google Shape;186;p20"/>
          <p:cNvSpPr txBox="1"/>
          <p:nvPr/>
        </p:nvSpPr>
        <p:spPr>
          <a:xfrm>
            <a:off x="6715125" y="4167187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Seguridad: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Integridad de datos mediante encriptación SSL/TLS y logs de auditoría.</a:t>
            </a:r>
            <a:endParaRPr lang="es-CL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2675"/>
            <a:ext cx="11049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</a:t>
            </a:r>
            <a:r>
              <a:rPr lang="es-CL" sz="3000" dirty="0" err="1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estion</a:t>
            </a:r>
            <a:r>
              <a:rPr lang="es-CL" sz="300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de Versiones, </a:t>
            </a:r>
            <a:r>
              <a:rPr lang="es-CL" sz="3000" dirty="0" err="1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Historico</a:t>
            </a:r>
            <a:endParaRPr lang="es-CL" noProof="0" dirty="0"/>
          </a:p>
        </p:txBody>
      </p:sp>
      <p:graphicFrame>
        <p:nvGraphicFramePr>
          <p:cNvPr id="194" name="Google Shape;194;p21"/>
          <p:cNvGraphicFramePr/>
          <p:nvPr>
            <p:extLst>
              <p:ext uri="{D42A27DB-BD31-4B8C-83A1-F6EECF244321}">
                <p14:modId xmlns:p14="http://schemas.microsoft.com/office/powerpoint/2010/main" val="4020836020"/>
              </p:ext>
            </p:extLst>
          </p:nvPr>
        </p:nvGraphicFramePr>
        <p:xfrm>
          <a:off x="571500" y="2352675"/>
          <a:ext cx="11049000" cy="2857575"/>
        </p:xfrm>
        <a:graphic>
          <a:graphicData uri="http://schemas.openxmlformats.org/drawingml/2006/table">
            <a:tbl>
              <a:tblPr firstRow="1" bandRow="1">
                <a:noFill/>
                <a:tableStyleId>{208D6738-51FE-4A68-BFC3-606704BC6B7C}</a:tableStyleId>
              </a:tblPr>
              <a:tblGrid>
                <a:gridCol w="140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50" b="0" i="0" u="none" strike="noStrike" cap="none" noProof="0" dirty="0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Versión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50" b="0" i="0" u="none" strike="noStrike" cap="none" noProof="0" dirty="0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Fecha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50" b="0" i="0" u="none" strike="noStrike" cap="none" noProof="0" dirty="0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Descripción / Cambio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50" b="0" i="0" u="none" strike="noStrike" cap="none" noProof="0" dirty="0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Autor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0.1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25/06/2026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Definición de Alcance y Requerimientos de Interfaz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Christian Astorga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0.2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27/06/2026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Refinamiento Visual UI y Adición de </a:t>
                      </a:r>
                      <a:r>
                        <a:rPr lang="es-CL" sz="1125" b="0" i="0" u="none" strike="noStrike" cap="none" noProof="0" dirty="0" err="1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Dashboard</a:t>
                      </a: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(RF5)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Christian Astorga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27/06/2026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Línea base y Casos de Prueba ISO 25000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Christian Astorga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1.1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29/07/2026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Optimización de alertas para RF2 (Plazos Vehiculares)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Christian Astorga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1.2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30/07/2026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Implementación de Pop-up y bloqueo migratorio RF1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Christian Astorga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1.3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30/07/2026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Finalización interoperabilidad RF3 y generación QR RF4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25" b="0" i="0" u="none" strike="noStrike" cap="none" noProof="0" dirty="0">
                          <a:solidFill>
                            <a:srgbClr val="F5F5F5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Christian Astorga</a:t>
                      </a:r>
                      <a:endParaRPr lang="es-CL" noProof="0" dirty="0">
                        <a:highlight>
                          <a:srgbClr val="0000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5" name="Google Shape;195;p21"/>
          <p:cNvSpPr/>
          <p:nvPr/>
        </p:nvSpPr>
        <p:spPr>
          <a:xfrm>
            <a:off x="571500" y="2738437"/>
            <a:ext cx="140091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972419" y="2738437"/>
            <a:ext cx="16897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662213" y="2738437"/>
            <a:ext cx="57483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9410551" y="2738437"/>
            <a:ext cx="22099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71500" y="3148012"/>
            <a:ext cx="140091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1972419" y="3148012"/>
            <a:ext cx="16897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662213" y="3148012"/>
            <a:ext cx="57483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9410551" y="3148012"/>
            <a:ext cx="22099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1500" y="3557587"/>
            <a:ext cx="140091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1972419" y="3557587"/>
            <a:ext cx="16897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662213" y="3557587"/>
            <a:ext cx="57483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9410551" y="3557587"/>
            <a:ext cx="22099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71500" y="3967162"/>
            <a:ext cx="140091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972419" y="3967162"/>
            <a:ext cx="16897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3662213" y="3967162"/>
            <a:ext cx="57483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410551" y="3967162"/>
            <a:ext cx="22099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71500" y="4376737"/>
            <a:ext cx="140091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972419" y="4376737"/>
            <a:ext cx="16897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3662213" y="4376737"/>
            <a:ext cx="57483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9410551" y="4376737"/>
            <a:ext cx="22099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71500" y="4786312"/>
            <a:ext cx="140091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1972419" y="4786312"/>
            <a:ext cx="16897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3662213" y="4786312"/>
            <a:ext cx="57483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9410551" y="4786312"/>
            <a:ext cx="22099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71500" y="5195887"/>
            <a:ext cx="140091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972419" y="5195887"/>
            <a:ext cx="16897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3662213" y="5195887"/>
            <a:ext cx="57483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9410551" y="5195887"/>
            <a:ext cx="22099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/>
          <p:nvPr/>
        </p:nvSpPr>
        <p:spPr>
          <a:xfrm>
            <a:off x="5524500" y="255746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4210764" y="2786062"/>
            <a:ext cx="377047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03. </a:t>
            </a:r>
            <a:r>
              <a:rPr lang="es-CL" sz="6000" b="0" i="0" u="none" strike="noStrike" cap="none" noProof="0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Control</a:t>
            </a:r>
            <a:endParaRPr lang="es-CL" noProof="0" dirty="0"/>
          </a:p>
        </p:txBody>
      </p:sp>
      <p:sp>
        <p:nvSpPr>
          <p:cNvPr id="230" name="Google Shape;230;p22"/>
          <p:cNvSpPr txBox="1"/>
          <p:nvPr/>
        </p:nvSpPr>
        <p:spPr>
          <a:xfrm>
            <a:off x="4143375" y="4062412"/>
            <a:ext cx="390525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mejora continua del proyecto.</a:t>
            </a:r>
            <a:endParaRPr lang="es-CL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Control con </a:t>
            </a:r>
            <a:r>
              <a:rPr lang="es-CL" sz="3000" b="0" i="0" u="none" strike="noStrike" cap="none" noProof="0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GitHub</a:t>
            </a:r>
            <a:endParaRPr lang="es-CL" noProof="0" dirty="0"/>
          </a:p>
        </p:txBody>
      </p:sp>
      <p:sp>
        <p:nvSpPr>
          <p:cNvPr id="238" name="Google Shape;238;p23"/>
          <p:cNvSpPr txBox="1"/>
          <p:nvPr/>
        </p:nvSpPr>
        <p:spPr>
          <a:xfrm>
            <a:off x="571500" y="211455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 noProof="0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Iteración Continua</a:t>
            </a:r>
            <a:endParaRPr lang="es-CL" noProof="0" dirty="0"/>
          </a:p>
        </p:txBody>
      </p:sp>
      <p:sp>
        <p:nvSpPr>
          <p:cNvPr id="239" name="Google Shape;239;p23"/>
          <p:cNvSpPr txBox="1"/>
          <p:nvPr/>
        </p:nvSpPr>
        <p:spPr>
          <a:xfrm>
            <a:off x="571500" y="260985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 utilizó </a:t>
            </a:r>
            <a:r>
              <a:rPr lang="es-CL" sz="1350" b="0" i="0" u="none" strike="noStrike" cap="none" noProof="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GitHub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como herramienta principal para garantizar la trazabilidad de los cambios. Esta técnica permitió:</a:t>
            </a:r>
            <a:endParaRPr lang="es-CL" noProof="0" dirty="0"/>
          </a:p>
        </p:txBody>
      </p:sp>
      <p:sp>
        <p:nvSpPr>
          <p:cNvPr id="240" name="Google Shape;240;p23"/>
          <p:cNvSpPr txBox="1"/>
          <p:nvPr/>
        </p:nvSpPr>
        <p:spPr>
          <a:xfrm>
            <a:off x="923925" y="32956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s-CL" noProof="0" dirty="0"/>
          </a:p>
        </p:txBody>
      </p:sp>
      <p:sp>
        <p:nvSpPr>
          <p:cNvPr id="241" name="Google Shape;241;p23"/>
          <p:cNvSpPr txBox="1"/>
          <p:nvPr/>
        </p:nvSpPr>
        <p:spPr>
          <a:xfrm>
            <a:off x="952500" y="3295650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Manejo de versiones del plan de proyecto (Word/Excel).</a:t>
            </a:r>
            <a:endParaRPr lang="es-CL" noProof="0" dirty="0"/>
          </a:p>
        </p:txBody>
      </p:sp>
      <p:sp>
        <p:nvSpPr>
          <p:cNvPr id="242" name="Google Shape;242;p23"/>
          <p:cNvSpPr txBox="1"/>
          <p:nvPr/>
        </p:nvSpPr>
        <p:spPr>
          <a:xfrm>
            <a:off x="923925" y="35528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s-CL" noProof="0" dirty="0"/>
          </a:p>
        </p:txBody>
      </p:sp>
      <p:sp>
        <p:nvSpPr>
          <p:cNvPr id="243" name="Google Shape;243;p23"/>
          <p:cNvSpPr txBox="1"/>
          <p:nvPr/>
        </p:nvSpPr>
        <p:spPr>
          <a:xfrm>
            <a:off x="952500" y="3552825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Respaldo de activos gráficos y maquetas de </a:t>
            </a:r>
            <a:r>
              <a:rPr lang="es-CL" sz="1350" b="0" i="0" u="none" strike="noStrike" cap="none" noProof="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Figma</a:t>
            </a: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es-CL" noProof="0" dirty="0"/>
          </a:p>
        </p:txBody>
      </p:sp>
      <p:sp>
        <p:nvSpPr>
          <p:cNvPr id="244" name="Google Shape;244;p23"/>
          <p:cNvSpPr txBox="1"/>
          <p:nvPr/>
        </p:nvSpPr>
        <p:spPr>
          <a:xfrm>
            <a:off x="923925" y="38100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s-CL" noProof="0" dirty="0"/>
          </a:p>
        </p:txBody>
      </p:sp>
      <p:sp>
        <p:nvSpPr>
          <p:cNvPr id="245" name="Google Shape;245;p23"/>
          <p:cNvSpPr txBox="1"/>
          <p:nvPr/>
        </p:nvSpPr>
        <p:spPr>
          <a:xfrm>
            <a:off x="952500" y="3810000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Guía centralizada de evaluación mediante el README.md.</a:t>
            </a:r>
            <a:endParaRPr lang="es-CL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459</Words>
  <Application>Microsoft Office PowerPoint</Application>
  <PresentationFormat>Panorámica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Urbanist</vt:lpstr>
      <vt:lpstr>Calibri</vt:lpstr>
      <vt:lpstr>Urbanist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CHRISTIAN NICOLAS ASTORGA SANDOVAL</cp:lastModifiedBy>
  <cp:revision>3</cp:revision>
  <dcterms:modified xsi:type="dcterms:W3CDTF">2026-07-01T18:13:14Z</dcterms:modified>
</cp:coreProperties>
</file>